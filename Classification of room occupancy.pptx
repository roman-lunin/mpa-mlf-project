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cs-CZ"/>
              <a:t>Kliknutím můžete upravit styl předlohy.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0016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0729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8426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255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5358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7418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2064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70560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6283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tický obrázek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1828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ázev a popis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44054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ce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11516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menov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88237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loup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5847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loupce s obráz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17382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8526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66928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42C3214-837E-4CD9-B0F4-2B7F73E4E666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5AE93AF-3289-4565-BD5C-C9FD0CEF568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54870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E97797A-627A-78A8-0CF4-D73D7B1335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effectLst/>
              </a:rPr>
              <a:t>Classification of room occupancy</a:t>
            </a:r>
            <a:br>
              <a:rPr lang="ru-RU" dirty="0">
                <a:effectLst/>
              </a:rPr>
            </a:br>
            <a:endParaRPr lang="ru-RU" dirty="0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C392FE2D-2CFA-629A-14CA-529EBBBC846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>
                <a:effectLst/>
              </a:rPr>
              <a:t> </a:t>
            </a:r>
          </a:p>
          <a:p>
            <a:r>
              <a:rPr lang="en-US" dirty="0">
                <a:effectLst/>
              </a:rPr>
              <a:t>MPA-MLF - Final project</a:t>
            </a:r>
            <a:endParaRPr lang="ru-RU" dirty="0">
              <a:effectLst/>
            </a:endParaRPr>
          </a:p>
          <a:p>
            <a:endParaRPr lang="ru-RU" dirty="0"/>
          </a:p>
        </p:txBody>
      </p:sp>
      <p:sp>
        <p:nvSpPr>
          <p:cNvPr id="4" name="TextovéPole 3">
            <a:extLst>
              <a:ext uri="{FF2B5EF4-FFF2-40B4-BE49-F238E27FC236}">
                <a16:creationId xmlns:a16="http://schemas.microsoft.com/office/drawing/2014/main" id="{CFD27199-139A-4EC5-312C-75B8A567CF44}"/>
              </a:ext>
            </a:extLst>
          </p:cNvPr>
          <p:cNvSpPr txBox="1"/>
          <p:nvPr/>
        </p:nvSpPr>
        <p:spPr>
          <a:xfrm>
            <a:off x="790590" y="5742038"/>
            <a:ext cx="17467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Roman Lunin</a:t>
            </a:r>
          </a:p>
          <a:p>
            <a:r>
              <a:rPr lang="en-US" dirty="0"/>
              <a:t>Mark Kovychev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21344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BD87F6A-436C-C55A-61EE-19698B31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noProof="0" dirty="0">
                <a:solidFill>
                  <a:schemeClr val="tx1"/>
                </a:solidFill>
                <a:highlight>
                  <a:srgbClr val="000080"/>
                </a:highlight>
              </a:rPr>
              <a:t>Task Description:</a:t>
            </a:r>
          </a:p>
        </p:txBody>
      </p:sp>
      <p:sp>
        <p:nvSpPr>
          <p:cNvPr id="3" name="TextovéPole 2">
            <a:extLst>
              <a:ext uri="{FF2B5EF4-FFF2-40B4-BE49-F238E27FC236}">
                <a16:creationId xmlns:a16="http://schemas.microsoft.com/office/drawing/2014/main" id="{B058673F-2F43-992C-2575-B52AB486CBEA}"/>
              </a:ext>
            </a:extLst>
          </p:cNvPr>
          <p:cNvSpPr txBox="1"/>
          <p:nvPr/>
        </p:nvSpPr>
        <p:spPr>
          <a:xfrm>
            <a:off x="1238863" y="1580050"/>
            <a:ext cx="10491019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Classify the number of persons in a room based on delay-Doppler images</a:t>
            </a:r>
          </a:p>
          <a:p>
            <a:endParaRPr lang="en-US" sz="2800" dirty="0"/>
          </a:p>
          <a:p>
            <a:r>
              <a:rPr lang="en-US" sz="2800" dirty="0"/>
              <a:t>Classes: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Class 0 → empty room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Class 1 → one person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Class 2 → two persons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Class 3 → three persons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/>
          </a:p>
          <a:p>
            <a:r>
              <a:rPr lang="en-US" sz="2800" dirty="0"/>
              <a:t>Goal:</a:t>
            </a:r>
          </a:p>
          <a:p>
            <a:r>
              <a:rPr lang="en-US" sz="2800" dirty="0"/>
              <a:t>achieve the highest possible accuracy </a:t>
            </a:r>
          </a:p>
          <a:p>
            <a:endParaRPr lang="en-US" sz="2000" dirty="0"/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588848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18E23F4-4970-45CE-A0F0-99F512325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highlight>
                  <a:srgbClr val="000080"/>
                </a:highlight>
              </a:rPr>
              <a:t>Solution</a:t>
            </a:r>
            <a:endParaRPr lang="ru-RU" dirty="0">
              <a:highlight>
                <a:srgbClr val="000080"/>
              </a:highlight>
            </a:endParaRPr>
          </a:p>
        </p:txBody>
      </p:sp>
      <p:sp>
        <p:nvSpPr>
          <p:cNvPr id="3" name="TextovéPole 2">
            <a:extLst>
              <a:ext uri="{FF2B5EF4-FFF2-40B4-BE49-F238E27FC236}">
                <a16:creationId xmlns:a16="http://schemas.microsoft.com/office/drawing/2014/main" id="{727FF5AD-B2A3-EC7A-FFF6-66094F018F7A}"/>
              </a:ext>
            </a:extLst>
          </p:cNvPr>
          <p:cNvSpPr txBox="1"/>
          <p:nvPr/>
        </p:nvSpPr>
        <p:spPr>
          <a:xfrm>
            <a:off x="461511" y="1580050"/>
            <a:ext cx="581147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1. Loading and preprocessing data: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mapping IDs to image paths (id + 1)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normalization of input images </a:t>
            </a:r>
          </a:p>
          <a:p>
            <a:endParaRPr lang="en-US" sz="2400" dirty="0"/>
          </a:p>
          <a:p>
            <a:r>
              <a:rPr lang="en-US" sz="2400" dirty="0"/>
              <a:t>2. Data augmentation: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 small transformations (shift, scale, color)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improved generalization</a:t>
            </a:r>
          </a:p>
          <a:p>
            <a:endParaRPr lang="en-US" sz="2400" dirty="0"/>
          </a:p>
          <a:p>
            <a:r>
              <a:rPr lang="en-US" sz="2400" dirty="0"/>
              <a:t>3. Data augmentation: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small transformations (shift, scale, color)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improved generalization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endParaRPr lang="ru-RU" dirty="0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F7E93D8A-56FE-4656-E31B-BD9F478B20F7}"/>
              </a:ext>
            </a:extLst>
          </p:cNvPr>
          <p:cNvSpPr txBox="1"/>
          <p:nvPr/>
        </p:nvSpPr>
        <p:spPr>
          <a:xfrm>
            <a:off x="6725265" y="1580050"/>
            <a:ext cx="581147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4. Model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EfficientNet-B1 (pretrained)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adapted for 4 classes</a:t>
            </a:r>
          </a:p>
          <a:p>
            <a:endParaRPr lang="en-US" sz="2400" dirty="0"/>
          </a:p>
          <a:p>
            <a:r>
              <a:rPr lang="en-US" sz="2400" dirty="0"/>
              <a:t>5. Training strategy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5-fold cross-validation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stable performance across the dataset</a:t>
            </a:r>
          </a:p>
          <a:p>
            <a:endParaRPr lang="en-US" sz="2400" dirty="0"/>
          </a:p>
          <a:p>
            <a:r>
              <a:rPr lang="en-US" sz="2400" dirty="0"/>
              <a:t>6. Final prediction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ensemble of 10 models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test-time augmentation (TTA)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34861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2ACC574-4D36-C099-5D59-285AB6E5A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noProof="0" dirty="0">
                <a:highlight>
                  <a:srgbClr val="000080"/>
                </a:highlight>
              </a:rPr>
              <a:t>Results:</a:t>
            </a:r>
          </a:p>
        </p:txBody>
      </p:sp>
      <p:pic>
        <p:nvPicPr>
          <p:cNvPr id="3" name="Obrázek 2">
            <a:extLst>
              <a:ext uri="{FF2B5EF4-FFF2-40B4-BE49-F238E27FC236}">
                <a16:creationId xmlns:a16="http://schemas.microsoft.com/office/drawing/2014/main" id="{53F5932B-1AA1-A7FB-4AB8-F6384CF9EE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99" y="3998799"/>
            <a:ext cx="7127424" cy="2448304"/>
          </a:xfrm>
          <a:prstGeom prst="rect">
            <a:avLst/>
          </a:prstGeom>
        </p:spPr>
      </p:pic>
      <p:pic>
        <p:nvPicPr>
          <p:cNvPr id="4" name="Obrázek 3">
            <a:extLst>
              <a:ext uri="{FF2B5EF4-FFF2-40B4-BE49-F238E27FC236}">
                <a16:creationId xmlns:a16="http://schemas.microsoft.com/office/drawing/2014/main" id="{824809F2-73C9-D4FA-AE11-14C05E00F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7213" y="3329483"/>
            <a:ext cx="3572960" cy="3117620"/>
          </a:xfrm>
          <a:prstGeom prst="rect">
            <a:avLst/>
          </a:prstGeom>
        </p:spPr>
      </p:pic>
      <p:pic>
        <p:nvPicPr>
          <p:cNvPr id="6" name="Obrázek 5">
            <a:extLst>
              <a:ext uri="{FF2B5EF4-FFF2-40B4-BE49-F238E27FC236}">
                <a16:creationId xmlns:a16="http://schemas.microsoft.com/office/drawing/2014/main" id="{B6624D0E-55C0-1B40-6D1F-A31C8C96F4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3525" y="3555910"/>
            <a:ext cx="4080247" cy="195731"/>
          </a:xfrm>
          <a:prstGeom prst="rect">
            <a:avLst/>
          </a:prstGeom>
        </p:spPr>
      </p:pic>
      <p:sp>
        <p:nvSpPr>
          <p:cNvPr id="7" name="TextovéPole 6">
            <a:extLst>
              <a:ext uri="{FF2B5EF4-FFF2-40B4-BE49-F238E27FC236}">
                <a16:creationId xmlns:a16="http://schemas.microsoft.com/office/drawing/2014/main" id="{5D4DE089-7AB9-984B-6FDC-D8CCD366DE20}"/>
              </a:ext>
            </a:extLst>
          </p:cNvPr>
          <p:cNvSpPr txBox="1"/>
          <p:nvPr/>
        </p:nvSpPr>
        <p:spPr>
          <a:xfrm>
            <a:off x="913795" y="1357566"/>
            <a:ext cx="4370107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 best accuracy is 97.291%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 Kaggle score is 0.97667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07469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DBBCB68-EC8F-A0F6-B477-A3477960D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ighlight>
                  <a:srgbClr val="000080"/>
                </a:highlight>
              </a:rPr>
              <a:t>Thank you for your attention!!!</a:t>
            </a:r>
            <a:endParaRPr lang="ru-RU" dirty="0">
              <a:highlight>
                <a:srgbClr val="00008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66811211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řidlice">
  <a:themeElements>
    <a:clrScheme name="Břidlic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Břidlic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řidlic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TM04033929[[fn=Břidlice]]</Template>
  <TotalTime>31</TotalTime>
  <Words>167</Words>
  <Application>Microsoft Office PowerPoint</Application>
  <PresentationFormat>Širokoúhlá obrazovka</PresentationFormat>
  <Paragraphs>45</Paragraphs>
  <Slides>5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5</vt:i4>
      </vt:variant>
    </vt:vector>
  </HeadingPairs>
  <TitlesOfParts>
    <vt:vector size="9" baseType="lpstr">
      <vt:lpstr>Arial</vt:lpstr>
      <vt:lpstr>Calisto MT</vt:lpstr>
      <vt:lpstr>Wingdings 2</vt:lpstr>
      <vt:lpstr>Břidlice</vt:lpstr>
      <vt:lpstr>Classification of room occupancy </vt:lpstr>
      <vt:lpstr>Task Description:</vt:lpstr>
      <vt:lpstr>Solution</vt:lpstr>
      <vt:lpstr>Results:</vt:lpstr>
      <vt:lpstr>Thank you for your attention!!!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Роман Лунин</dc:creator>
  <cp:lastModifiedBy>Роман Лунин</cp:lastModifiedBy>
  <cp:revision>2</cp:revision>
  <dcterms:created xsi:type="dcterms:W3CDTF">2026-04-29T17:54:08Z</dcterms:created>
  <dcterms:modified xsi:type="dcterms:W3CDTF">2026-04-29T18:25:59Z</dcterms:modified>
</cp:coreProperties>
</file>